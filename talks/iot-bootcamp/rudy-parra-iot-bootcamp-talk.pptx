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"Three years ago this fall, I was sitting in those exact chairs, in this exact bootcamp." That is literally true: Deep Dive IoT, Oct to Dec 2023. Introduce yourself fast and get to the story. Do not read the slide, they can see it. Mention Jamie and Zuyva by name and thank them for the invite.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matters most to them. Be honest about what was hard. Tell one specific story: a project that broke, a week you doubted it, the moment something clicked. They need to hear that the person on stage struggled too. The Telemetry Insight job is your proof that this bootcamp leads somewhere: April 2024, four months after you finished. Keep it to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 non-linear path is the point. Solar physics, OS imaging, and glass research have nothing in common on paper. What they share is measurement, debugging, and patience with systems that lie to you. That transfers directly to IoT. The Lockheed stint was Jan to May 2023, remote; Coe was that summer; then the bootcamp that fall. One year, three totally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concrete. The "What I do" card is basically their curriculum: ESP32, C++, BLE, sensors. Say that out loud. "This is the stuff you are learning right now, and I use it every single day." Mention the IoT safety monitoring devices and custom PCBs you have built. Lab work is very much a tech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most relevant to an IoT class. Slow down here. If you can show the app on your phone, do it. Talk about a real bug: a device that dropped off the network, bad timestamps, a sensor reading that made no sense. They will remember the war story, not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thesis. Say it plainly and let it sit for a beat. If you only get one idea across today, make it this one. Tie it back to how you got the GridFlow job and the Pii role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the practical version: a meetup is a low-stakes way to meet hiring managers without applying to anything. Invite them personally to the next Techqueria or NMTT event. Being invited by name is what actually gets someone to show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pitch here. Point at the QR code and give them ten seconds to scan it right now, in the room. Tell them to come Thursday specifically. The résumé tables are the single most useful thing for a bootcamp student: RESPEC, Pacific Fusion, Indeed, CAI, and NM Workforce Solutions will all be there. Tell them to bring a printed résumé, and that you will personally be there and will introduce them to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real time for questions, at least ten minutes. Expect: how did you get the GridFlow job, did the bootcamp get you hired, what should I learn next, is the degree worth it. Answer honestly. Add your email to the slide before you present, or just say it out loud and ask them to connect on LinkedIn right there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936899"/>
            <a:ext cx="9886950" cy="663922"/>
          </a:xfrm>
          <a:prstGeom prst="rect">
            <a:avLst/>
          </a:prstGeom>
          <a:noFill/>
          <a:ln/>
        </p:spPr>
        <p:txBody>
          <a:bodyPr wrap="square" lIns="0" tIns="0" rIns="0" bIns="0" rtlCol="0" anchor="t"/>
          <a:lstStyle>
            <a:lvl1pPr algn="l" indent="0" marL="0">
              <a:lnSpc>
                <a:spcPct val="115000"/>
              </a:lnSpc>
              <a:buNone/>
              <a:defRPr lang="en-US" sz="4400" dirty="0">
                <a:solidFill>
                  <a:srgbClr val="0E0E1F"/>
                </a:solidFill>
                <a:latin typeface="Arial" pitchFamily="34" charset="0"/>
                <a:ea typeface="Arial" pitchFamily="34" charset="-122"/>
                <a:cs typeface="Arial"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905621"/>
            <a:ext cx="10566400" cy="3139579"/>
          </a:xfrm>
          <a:prstGeom prst="rect">
            <a:avLst/>
          </a:prstGeom>
          <a:noFill/>
          <a:ln/>
        </p:spPr>
        <p:txBody>
          <a:bodyPr wrap="square" lIns="0" tIns="0" rIns="0" bIns="0" rtlCol="0" anchor="t"/>
          <a:lstStyle>
            <a:lvl1pPr algn="l" indent="0" marL="0">
              <a:lnSpc>
                <a:spcPct val="140000"/>
              </a:lnSpc>
              <a:buNone/>
              <a:defRPr lang="en-US" sz="1600" dirty="0">
                <a:solidFill>
                  <a:srgbClr val="0E0E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936899"/>
            <a:ext cx="9886950" cy="663922"/>
          </a:xfrm>
          <a:prstGeom prst="rect">
            <a:avLst/>
          </a:prstGeom>
          <a:noFill/>
          <a:ln/>
        </p:spPr>
        <p:txBody>
          <a:bodyPr wrap="square" lIns="0" tIns="0" rIns="0" bIns="0" rtlCol="0" anchor="t"/>
          <a:lstStyle>
            <a:lvl1pPr algn="l" indent="0" marL="0">
              <a:lnSpc>
                <a:spcPct val="115000"/>
              </a:lnSpc>
              <a:buNone/>
              <a:defRPr lang="en-US" sz="4400" dirty="0">
                <a:solidFill>
                  <a:srgbClr val="FBFAF7"/>
                </a:solidFill>
                <a:latin typeface="Arial" pitchFamily="34" charset="0"/>
                <a:ea typeface="Arial" pitchFamily="34" charset="-122"/>
                <a:cs typeface="Arial"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905621"/>
            <a:ext cx="10566400" cy="3139579"/>
          </a:xfrm>
          <a:prstGeom prst="rect">
            <a:avLst/>
          </a:prstGeom>
          <a:noFill/>
          <a:ln/>
        </p:spPr>
        <p:txBody>
          <a:bodyPr wrap="square" lIns="0" tIns="0" rIns="0" bIns="0" rtlCol="0" anchor="t"/>
          <a:lstStyle>
            <a:lvl1pPr algn="l" indent="0" marL="0">
              <a:lnSpc>
                <a:spcPct val="140000"/>
              </a:lnSpc>
              <a:buNone/>
              <a:defRPr lang="en-US" sz="1600" dirty="0">
                <a:solidFill>
                  <a:srgbClr val="FAF9F5"/>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936899"/>
            <a:ext cx="9886950" cy="663922"/>
          </a:xfrm>
          <a:prstGeom prst="rect">
            <a:avLst/>
          </a:prstGeom>
          <a:noFill/>
          <a:ln/>
        </p:spPr>
        <p:txBody>
          <a:bodyPr wrap="square" lIns="0" tIns="0" rIns="0" bIns="0" rtlCol="0" anchor="t"/>
          <a:lstStyle>
            <a:lvl1pPr algn="l" indent="0" marL="0">
              <a:lnSpc>
                <a:spcPct val="115000"/>
              </a:lnSpc>
              <a:buNone/>
              <a:defRPr lang="en-US" sz="4400" dirty="0">
                <a:solidFill>
                  <a:srgbClr val="0E0E1F"/>
                </a:solidFill>
                <a:latin typeface="Arial" pitchFamily="34" charset="0"/>
                <a:ea typeface="Arial" pitchFamily="34" charset="-122"/>
                <a:cs typeface="Arial"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905621"/>
            <a:ext cx="10566400" cy="3139579"/>
          </a:xfrm>
          <a:prstGeom prst="rect">
            <a:avLst/>
          </a:prstGeom>
          <a:noFill/>
          <a:ln/>
        </p:spPr>
        <p:txBody>
          <a:bodyPr wrap="square" lIns="0" tIns="0" rIns="0" bIns="0" rtlCol="0" anchor="t"/>
          <a:lstStyle>
            <a:lvl1pPr algn="l" indent="0" marL="0">
              <a:lnSpc>
                <a:spcPct val="140000"/>
              </a:lnSpc>
              <a:buNone/>
              <a:defRPr lang="en-US" sz="1600" dirty="0">
                <a:solidFill>
                  <a:srgbClr val="0E0E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1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E0E1F"/>
              </a:gs>
              <a:gs pos="100000">
                <a:srgbClr val="1C1C33"/>
              </a:gs>
            </a:gsLst>
            <a:lin ang="4200000" scaled="0"/>
          </a:gradFill>
          <a:ln/>
        </p:spPr>
      </p:sp>
      <p:sp>
        <p:nvSpPr>
          <p:cNvPr id="3" name="Text 1"/>
          <p:cNvSpPr/>
          <p:nvPr/>
        </p:nvSpPr>
        <p:spPr>
          <a:xfrm>
            <a:off x="812800" y="1614984"/>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F5C4A8"/>
                </a:solidFill>
                <a:latin typeface="Arial" pitchFamily="34" charset="0"/>
                <a:ea typeface="Arial" pitchFamily="34" charset="-122"/>
                <a:cs typeface="Arial" pitchFamily="34" charset="-120"/>
              </a:rPr>
              <a:t>DEEP DIVE IOT BOOTCAMP · COHORT 20</a:t>
            </a:r>
            <a:endParaRPr lang="en-US" sz="1400" dirty="0"/>
          </a:p>
        </p:txBody>
      </p:sp>
      <p:sp>
        <p:nvSpPr>
          <p:cNvPr id="4" name="Text 2"/>
          <p:cNvSpPr/>
          <p:nvPr>
            <p:ph type="title"/>
          </p:nvPr>
        </p:nvSpPr>
        <p:spPr>
          <a:xfrm>
            <a:off x="812800" y="2117824"/>
            <a:ext cx="10883392" cy="905470"/>
          </a:xfrm>
          <a:prstGeom prst="rect">
            <a:avLst/>
          </a:prstGeom>
          <a:noFill/>
          <a:ln/>
        </p:spPr>
        <p:txBody>
          <a:bodyPr wrap="square" lIns="0" tIns="0" rIns="0" bIns="0" rtlCol="0" anchor="t">
            <a:normAutofit/>
          </a:bodyPr>
          <a:lstStyle/>
          <a:p>
            <a:pPr algn="l" indent="0" marL="0">
              <a:lnSpc>
                <a:spcPts val="6930"/>
              </a:lnSpc>
              <a:buNone/>
            </a:pPr>
            <a:r>
              <a:rPr lang="en-US" sz="6600" b="1" i="0" dirty="0">
                <a:solidFill>
                  <a:srgbClr val="FBFAF7"/>
                </a:solidFill>
                <a:latin typeface="Arial" pitchFamily="34" charset="0"/>
                <a:ea typeface="Arial" pitchFamily="34" charset="-122"/>
                <a:cs typeface="Arial" pitchFamily="34" charset="-120"/>
              </a:rPr>
              <a:t>Rudy Parra</a:t>
            </a:r>
            <a:endParaRPr lang="en-US" sz="6600" dirty="0"/>
          </a:p>
        </p:txBody>
      </p:sp>
      <p:sp>
        <p:nvSpPr>
          <p:cNvPr id="5" name="Text 3"/>
          <p:cNvSpPr/>
          <p:nvPr/>
        </p:nvSpPr>
        <p:spPr>
          <a:xfrm>
            <a:off x="812800" y="3251895"/>
            <a:ext cx="10883392" cy="36314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FBFAF7"/>
                </a:solidFill>
                <a:latin typeface="Arial" pitchFamily="34" charset="0"/>
                <a:ea typeface="Arial" pitchFamily="34" charset="-122"/>
                <a:cs typeface="Arial" pitchFamily="34" charset="-120"/>
              </a:rPr>
              <a:t>Senior Electrical Lab Technician, </a:t>
            </a:r>
            <a:r>
              <a:rPr lang="en-US" sz="1900" b="1" dirty="0">
                <a:solidFill>
                  <a:srgbClr val="FBFAF7"/>
                </a:solidFill>
                <a:latin typeface="Arial" pitchFamily="34" charset="0"/>
                <a:ea typeface="Arial" pitchFamily="34" charset="-122"/>
                <a:cs typeface="Arial" pitchFamily="34" charset="-120"/>
              </a:rPr>
              <a:t>GridFlow</a:t>
            </a:r>
            <a:endParaRPr lang="en-US" sz="1900" dirty="0"/>
          </a:p>
        </p:txBody>
      </p:sp>
      <p:sp>
        <p:nvSpPr>
          <p:cNvPr id="6" name="Text 4"/>
          <p:cNvSpPr/>
          <p:nvPr/>
        </p:nvSpPr>
        <p:spPr>
          <a:xfrm>
            <a:off x="812800" y="3678535"/>
            <a:ext cx="10883392" cy="36314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FBFAF7"/>
                </a:solidFill>
                <a:latin typeface="Arial" pitchFamily="34" charset="0"/>
                <a:ea typeface="Arial" pitchFamily="34" charset="-122"/>
                <a:cs typeface="Arial" pitchFamily="34" charset="-120"/>
              </a:rPr>
              <a:t>Lead Software Developer, </a:t>
            </a:r>
            <a:r>
              <a:rPr lang="en-US" sz="1900" b="1" dirty="0">
                <a:solidFill>
                  <a:srgbClr val="FBFAF7"/>
                </a:solidFill>
                <a:latin typeface="Arial" pitchFamily="34" charset="0"/>
                <a:ea typeface="Arial" pitchFamily="34" charset="-122"/>
                <a:cs typeface="Arial" pitchFamily="34" charset="-120"/>
              </a:rPr>
              <a:t>Pii Energy</a:t>
            </a:r>
            <a:endParaRPr lang="en-US" sz="1900" dirty="0"/>
          </a:p>
        </p:txBody>
      </p:sp>
      <p:sp>
        <p:nvSpPr>
          <p:cNvPr id="7" name="Text 5"/>
          <p:cNvSpPr/>
          <p:nvPr/>
        </p:nvSpPr>
        <p:spPr>
          <a:xfrm>
            <a:off x="812800" y="4105176"/>
            <a:ext cx="10883392" cy="36314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FBFAF7"/>
                </a:solidFill>
                <a:latin typeface="Arial" pitchFamily="34" charset="0"/>
                <a:ea typeface="Arial" pitchFamily="34" charset="-122"/>
                <a:cs typeface="Arial" pitchFamily="34" charset="-120"/>
              </a:rPr>
              <a:t>Founder &amp; Board Member, </a:t>
            </a:r>
            <a:r>
              <a:rPr lang="en-US" sz="1900" b="1" dirty="0">
                <a:solidFill>
                  <a:srgbClr val="FBFAF7"/>
                </a:solidFill>
                <a:latin typeface="Arial" pitchFamily="34" charset="0"/>
                <a:ea typeface="Arial" pitchFamily="34" charset="-122"/>
                <a:cs typeface="Arial" pitchFamily="34" charset="-120"/>
              </a:rPr>
              <a:t>NM Tech Talks</a:t>
            </a:r>
            <a:endParaRPr lang="en-US" sz="1900" dirty="0"/>
          </a:p>
        </p:txBody>
      </p:sp>
      <p:pic>
        <p:nvPicPr>
          <p:cNvPr id="8" name="Image 0" descr="line">    </p:cNvPr>
          <p:cNvPicPr>
            <a:picLocks noChangeAspect="1"/>
          </p:cNvPicPr>
          <p:nvPr/>
        </p:nvPicPr>
        <p:blipFill>
          <a:blip r:embed="rId1"/>
          <a:srcRect l="0" r="0" t="0" b="0"/>
          <a:stretch/>
        </p:blipFill>
        <p:spPr>
          <a:xfrm>
            <a:off x="812800" y="4696916"/>
            <a:ext cx="1397000" cy="25400"/>
          </a:xfrm>
          <a:prstGeom prst="rect">
            <a:avLst/>
          </a:prstGeom>
        </p:spPr>
      </p:pic>
      <p:sp>
        <p:nvSpPr>
          <p:cNvPr id="9" name="Text 6"/>
          <p:cNvSpPr/>
          <p:nvPr/>
        </p:nvSpPr>
        <p:spPr>
          <a:xfrm>
            <a:off x="812800" y="4976316"/>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A9C0"/>
                </a:solidFill>
                <a:latin typeface="Arial" pitchFamily="34" charset="0"/>
                <a:ea typeface="Arial" pitchFamily="34" charset="-122"/>
                <a:cs typeface="Arial" pitchFamily="34" charset="-120"/>
              </a:rPr>
              <a:t>Deep Dive IoT alum, 2023 · therudyparra.com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142845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C87A4A"/>
                </a:solidFill>
                <a:latin typeface="Arial" pitchFamily="34" charset="0"/>
                <a:ea typeface="Arial" pitchFamily="34" charset="-122"/>
                <a:cs typeface="Arial" pitchFamily="34" charset="-120"/>
              </a:rPr>
              <a:t>START HERE</a:t>
            </a:r>
            <a:endParaRPr lang="en-US" sz="1400" dirty="0"/>
          </a:p>
        </p:txBody>
      </p:sp>
      <p:sp>
        <p:nvSpPr>
          <p:cNvPr id="3" name="Text 1"/>
          <p:cNvSpPr/>
          <p:nvPr>
            <p:ph type="title"/>
          </p:nvPr>
        </p:nvSpPr>
        <p:spPr>
          <a:xfrm>
            <a:off x="812800" y="2032893"/>
            <a:ext cx="9156700" cy="125472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0E0E1F"/>
                </a:solidFill>
                <a:latin typeface="Arial" pitchFamily="34" charset="0"/>
                <a:ea typeface="Arial" pitchFamily="34" charset="-122"/>
                <a:cs typeface="Arial" pitchFamily="34" charset="-120"/>
              </a:rPr>
              <a:t>I sat in this exact bootcamp in 2023</a:t>
            </a:r>
            <a:endParaRPr lang="en-US" sz="4400" dirty="0"/>
          </a:p>
        </p:txBody>
      </p:sp>
      <p:sp>
        <p:nvSpPr>
          <p:cNvPr id="4" name="Shape 2"/>
          <p:cNvSpPr/>
          <p:nvPr/>
        </p:nvSpPr>
        <p:spPr>
          <a:xfrm>
            <a:off x="815975" y="3620988"/>
            <a:ext cx="5175250" cy="1805285"/>
          </a:xfrm>
          <a:prstGeom prst="roundRect">
            <a:avLst>
              <a:gd name="adj" fmla="val 6859"/>
            </a:avLst>
          </a:prstGeom>
          <a:solidFill>
            <a:srgbClr val="FFFFFF"/>
          </a:solidFill>
          <a:ln w="6350">
            <a:solidFill>
              <a:srgbClr val="E3E0D8"/>
            </a:solidFill>
            <a:prstDash val="solid"/>
          </a:ln>
        </p:spPr>
      </p:sp>
      <p:sp>
        <p:nvSpPr>
          <p:cNvPr id="5" name="Text 3"/>
          <p:cNvSpPr/>
          <p:nvPr/>
        </p:nvSpPr>
        <p:spPr>
          <a:xfrm>
            <a:off x="1123950" y="3928963"/>
            <a:ext cx="469607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E0E1F"/>
                </a:solidFill>
                <a:latin typeface="Arial" pitchFamily="34" charset="0"/>
                <a:ea typeface="Arial" pitchFamily="34" charset="-122"/>
                <a:cs typeface="Arial" pitchFamily="34" charset="-120"/>
              </a:rPr>
              <a:t>Deep Dive IoT, Oct to Dec 2023</a:t>
            </a:r>
            <a:endParaRPr lang="en-US" sz="1700" dirty="0"/>
          </a:p>
        </p:txBody>
      </p:sp>
      <p:sp>
        <p:nvSpPr>
          <p:cNvPr id="6" name="Text 4"/>
          <p:cNvSpPr/>
          <p:nvPr/>
        </p:nvSpPr>
        <p:spPr>
          <a:xfrm>
            <a:off x="1123950" y="4289623"/>
            <a:ext cx="4696079"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Arial" pitchFamily="34" charset="0"/>
                <a:ea typeface="Arial" pitchFamily="34" charset="-122"/>
                <a:cs typeface="Arial" pitchFamily="34" charset="-120"/>
              </a:rPr>
              <a:t>400+ hours of C++, circuits, soldering, clean room work, and lab automation. Finished my A.A.S. in CIS the same month.</a:t>
            </a:r>
            <a:endParaRPr lang="en-US" sz="1500" dirty="0"/>
          </a:p>
        </p:txBody>
      </p:sp>
      <p:sp>
        <p:nvSpPr>
          <p:cNvPr id="7" name="Shape 5"/>
          <p:cNvSpPr/>
          <p:nvPr/>
        </p:nvSpPr>
        <p:spPr>
          <a:xfrm>
            <a:off x="6200775" y="3620988"/>
            <a:ext cx="5175250" cy="1805285"/>
          </a:xfrm>
          <a:prstGeom prst="roundRect">
            <a:avLst>
              <a:gd name="adj" fmla="val 6859"/>
            </a:avLst>
          </a:prstGeom>
          <a:solidFill>
            <a:srgbClr val="FFFFFF"/>
          </a:solidFill>
          <a:ln w="6350">
            <a:solidFill>
              <a:srgbClr val="E3E0D8"/>
            </a:solidFill>
            <a:prstDash val="solid"/>
          </a:ln>
        </p:spPr>
      </p:sp>
      <p:sp>
        <p:nvSpPr>
          <p:cNvPr id="8" name="Text 6"/>
          <p:cNvSpPr/>
          <p:nvPr/>
        </p:nvSpPr>
        <p:spPr>
          <a:xfrm>
            <a:off x="6508750" y="3928963"/>
            <a:ext cx="469607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E0E1F"/>
                </a:solidFill>
                <a:latin typeface="Arial" pitchFamily="34" charset="0"/>
                <a:ea typeface="Arial" pitchFamily="34" charset="-122"/>
                <a:cs typeface="Arial" pitchFamily="34" charset="-120"/>
              </a:rPr>
              <a:t>Four months later</a:t>
            </a:r>
            <a:endParaRPr lang="en-US" sz="1700" dirty="0"/>
          </a:p>
        </p:txBody>
      </p:sp>
      <p:sp>
        <p:nvSpPr>
          <p:cNvPr id="9" name="Text 7"/>
          <p:cNvSpPr/>
          <p:nvPr/>
        </p:nvSpPr>
        <p:spPr>
          <a:xfrm>
            <a:off x="6508750" y="4289623"/>
            <a:ext cx="4696079"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Arial" pitchFamily="34" charset="0"/>
                <a:ea typeface="Arial" pitchFamily="34" charset="-122"/>
                <a:cs typeface="Arial" pitchFamily="34" charset="-120"/>
              </a:rPr>
              <a:t>IoT &amp; Software Developer at Telemetry Insight. Bench-testing well controllers and shipping BLE features. First real IoT paycheck.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E1F"/>
        </a:solidFill>
      </p:bgPr>
    </p:bg>
    <p:spTree>
      <p:nvGrpSpPr>
        <p:cNvPr id="1" name=""/>
        <p:cNvGrpSpPr/>
        <p:nvPr/>
      </p:nvGrpSpPr>
      <p:grpSpPr>
        <a:xfrm>
          <a:off x="0" y="0"/>
          <a:ext cx="0" cy="0"/>
          <a:chOff x="0" y="0"/>
          <a:chExt cx="0" cy="0"/>
        </a:xfrm>
      </p:grpSpPr>
      <p:sp>
        <p:nvSpPr>
          <p:cNvPr id="2" name="Text 0"/>
          <p:cNvSpPr/>
          <p:nvPr/>
        </p:nvSpPr>
        <p:spPr>
          <a:xfrm>
            <a:off x="812800" y="114567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8FC9D4"/>
                </a:solidFill>
                <a:latin typeface="Arial" pitchFamily="34" charset="0"/>
                <a:ea typeface="Arial" pitchFamily="34" charset="-122"/>
                <a:cs typeface="Arial" pitchFamily="34" charset="-120"/>
              </a:rPr>
              <a:t>BEFORE THE BOOTCAMP</a:t>
            </a:r>
            <a:endParaRPr lang="en-US" sz="1400" dirty="0"/>
          </a:p>
        </p:txBody>
      </p:sp>
      <p:sp>
        <p:nvSpPr>
          <p:cNvPr id="3" name="Text 1"/>
          <p:cNvSpPr/>
          <p:nvPr>
            <p:ph type="title"/>
          </p:nvPr>
        </p:nvSpPr>
        <p:spPr>
          <a:xfrm>
            <a:off x="812800" y="1699320"/>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BFAF7"/>
                </a:solidFill>
                <a:latin typeface="Arial" pitchFamily="34" charset="0"/>
                <a:ea typeface="Arial" pitchFamily="34" charset="-122"/>
                <a:cs typeface="Arial" pitchFamily="34" charset="-120"/>
              </a:rPr>
              <a:t>A research lab, not a tech job</a:t>
            </a:r>
            <a:endParaRPr lang="en-US" sz="4400" dirty="0"/>
          </a:p>
        </p:txBody>
      </p:sp>
      <p:sp>
        <p:nvSpPr>
          <p:cNvPr id="4" name="Shape 2"/>
          <p:cNvSpPr/>
          <p:nvPr/>
        </p:nvSpPr>
        <p:spPr>
          <a:xfrm>
            <a:off x="815975" y="2621955"/>
            <a:ext cx="3397250" cy="2172692"/>
          </a:xfrm>
          <a:prstGeom prst="roundRect">
            <a:avLst>
              <a:gd name="adj" fmla="val 5699"/>
            </a:avLst>
          </a:prstGeom>
          <a:solidFill>
            <a:srgbClr val="1C1C33"/>
          </a:solidFill>
          <a:ln w="6350">
            <a:solidFill>
              <a:srgbClr val="2E2E4A"/>
            </a:solidFill>
            <a:prstDash val="solid"/>
          </a:ln>
        </p:spPr>
      </p:sp>
      <p:sp>
        <p:nvSpPr>
          <p:cNvPr id="5" name="Text 3"/>
          <p:cNvSpPr/>
          <p:nvPr/>
        </p:nvSpPr>
        <p:spPr>
          <a:xfrm>
            <a:off x="1098550" y="2904530"/>
            <a:ext cx="2917063"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C4A8"/>
                </a:solidFill>
                <a:latin typeface="Arial" pitchFamily="34" charset="0"/>
                <a:ea typeface="Arial" pitchFamily="34" charset="-122"/>
                <a:cs typeface="Arial" pitchFamily="34" charset="-120"/>
              </a:rPr>
              <a:t>National Solar Observatory, 2020</a:t>
            </a:r>
            <a:endParaRPr lang="en-US" sz="1600" dirty="0"/>
          </a:p>
        </p:txBody>
      </p:sp>
      <p:sp>
        <p:nvSpPr>
          <p:cNvPr id="6" name="Text 4"/>
          <p:cNvSpPr/>
          <p:nvPr/>
        </p:nvSpPr>
        <p:spPr>
          <a:xfrm>
            <a:off x="1098550" y="3480991"/>
            <a:ext cx="2917063"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A9A9C0"/>
                </a:solidFill>
                <a:latin typeface="Arial" pitchFamily="34" charset="0"/>
                <a:ea typeface="Arial" pitchFamily="34" charset="-122"/>
                <a:cs typeface="Arial" pitchFamily="34" charset="-120"/>
              </a:rPr>
              <a:t>Sole first author on solar spectroscopy research. Found that sunspot area drives the H-alpha line shape. NASA and NSF funded.</a:t>
            </a:r>
            <a:endParaRPr lang="en-US" sz="1400" dirty="0"/>
          </a:p>
        </p:txBody>
      </p:sp>
      <p:sp>
        <p:nvSpPr>
          <p:cNvPr id="7" name="Shape 5"/>
          <p:cNvSpPr/>
          <p:nvPr/>
        </p:nvSpPr>
        <p:spPr>
          <a:xfrm>
            <a:off x="4397375" y="2621955"/>
            <a:ext cx="3397250" cy="2172692"/>
          </a:xfrm>
          <a:prstGeom prst="roundRect">
            <a:avLst>
              <a:gd name="adj" fmla="val 5699"/>
            </a:avLst>
          </a:prstGeom>
          <a:solidFill>
            <a:srgbClr val="1C1C33"/>
          </a:solidFill>
          <a:ln w="6350">
            <a:solidFill>
              <a:srgbClr val="2E2E4A"/>
            </a:solidFill>
            <a:prstDash val="solid"/>
          </a:ln>
        </p:spPr>
      </p:sp>
      <p:sp>
        <p:nvSpPr>
          <p:cNvPr id="8" name="Text 6"/>
          <p:cNvSpPr/>
          <p:nvPr/>
        </p:nvSpPr>
        <p:spPr>
          <a:xfrm>
            <a:off x="4679950" y="2904530"/>
            <a:ext cx="291706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C4A8"/>
                </a:solidFill>
                <a:latin typeface="Arial" pitchFamily="34" charset="0"/>
                <a:ea typeface="Arial" pitchFamily="34" charset="-122"/>
                <a:cs typeface="Arial" pitchFamily="34" charset="-120"/>
              </a:rPr>
              <a:t>Lockheed Martin, 2023</a:t>
            </a:r>
            <a:endParaRPr lang="en-US" sz="1600" dirty="0"/>
          </a:p>
        </p:txBody>
      </p:sp>
      <p:sp>
        <p:nvSpPr>
          <p:cNvPr id="9" name="Text 7"/>
          <p:cNvSpPr/>
          <p:nvPr/>
        </p:nvSpPr>
        <p:spPr>
          <a:xfrm>
            <a:off x="4679950" y="3237210"/>
            <a:ext cx="2917063"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A9A9C0"/>
                </a:solidFill>
                <a:latin typeface="Arial" pitchFamily="34" charset="0"/>
                <a:ea typeface="Arial" pitchFamily="34" charset="-122"/>
                <a:cs typeface="Arial" pitchFamily="34" charset="-120"/>
              </a:rPr>
              <a:t>Image Creation Developer on the DevOps team. Built and debugged Windows and Linux OS images for cloud and on-prem.</a:t>
            </a:r>
            <a:endParaRPr lang="en-US" sz="1400" dirty="0"/>
          </a:p>
        </p:txBody>
      </p:sp>
      <p:sp>
        <p:nvSpPr>
          <p:cNvPr id="10" name="Shape 8"/>
          <p:cNvSpPr/>
          <p:nvPr/>
        </p:nvSpPr>
        <p:spPr>
          <a:xfrm>
            <a:off x="7978775" y="2621955"/>
            <a:ext cx="3397250" cy="2172692"/>
          </a:xfrm>
          <a:prstGeom prst="roundRect">
            <a:avLst>
              <a:gd name="adj" fmla="val 5699"/>
            </a:avLst>
          </a:prstGeom>
          <a:solidFill>
            <a:srgbClr val="1C1C33"/>
          </a:solidFill>
          <a:ln w="6350">
            <a:solidFill>
              <a:srgbClr val="2E2E4A"/>
            </a:solidFill>
            <a:prstDash val="solid"/>
          </a:ln>
        </p:spPr>
      </p:sp>
      <p:sp>
        <p:nvSpPr>
          <p:cNvPr id="11" name="Text 9"/>
          <p:cNvSpPr/>
          <p:nvPr/>
        </p:nvSpPr>
        <p:spPr>
          <a:xfrm>
            <a:off x="8261350" y="2904530"/>
            <a:ext cx="291706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C4A8"/>
                </a:solidFill>
                <a:latin typeface="Arial" pitchFamily="34" charset="0"/>
                <a:ea typeface="Arial" pitchFamily="34" charset="-122"/>
                <a:cs typeface="Arial" pitchFamily="34" charset="-120"/>
              </a:rPr>
              <a:t>Coe College, 2023</a:t>
            </a:r>
            <a:endParaRPr lang="en-US" sz="1600" dirty="0"/>
          </a:p>
        </p:txBody>
      </p:sp>
      <p:sp>
        <p:nvSpPr>
          <p:cNvPr id="12" name="Text 10"/>
          <p:cNvSpPr/>
          <p:nvPr/>
        </p:nvSpPr>
        <p:spPr>
          <a:xfrm>
            <a:off x="8261350" y="3237210"/>
            <a:ext cx="2917063"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A9A9C0"/>
                </a:solidFill>
                <a:latin typeface="Arial" pitchFamily="34" charset="0"/>
                <a:ea typeface="Arial" pitchFamily="34" charset="-122"/>
                <a:cs typeface="Arial" pitchFamily="34" charset="-120"/>
              </a:rPr>
              <a:t>Led a team across four NSF glass physics projects. Melted glass at 1300°C, ran XAFS and Raman, presented two posters.</a:t>
            </a:r>
            <a:endParaRPr lang="en-US" sz="1400" dirty="0"/>
          </a:p>
        </p:txBody>
      </p:sp>
      <p:sp>
        <p:nvSpPr>
          <p:cNvPr id="13" name="Text 11"/>
          <p:cNvSpPr/>
          <p:nvPr/>
        </p:nvSpPr>
        <p:spPr>
          <a:xfrm>
            <a:off x="812800" y="5102622"/>
            <a:ext cx="981075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BFAF7"/>
                </a:solidFill>
                <a:latin typeface="Arial" pitchFamily="34" charset="0"/>
                <a:ea typeface="Arial" pitchFamily="34" charset="-122"/>
                <a:cs typeface="Arial" pitchFamily="34" charset="-120"/>
              </a:rPr>
              <a:t>None of this was an IoT job. All of it taught me to take a messy physical system and figure out what it was actually doing.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1312664"/>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C87A4A"/>
                </a:solidFill>
                <a:latin typeface="Arial" pitchFamily="34" charset="0"/>
                <a:ea typeface="Arial" pitchFamily="34" charset="-122"/>
                <a:cs typeface="Arial" pitchFamily="34" charset="-120"/>
              </a:rPr>
              <a:t>DAY JOB, PART ONE</a:t>
            </a:r>
            <a:endParaRPr lang="en-US" sz="1400" dirty="0"/>
          </a:p>
        </p:txBody>
      </p:sp>
      <p:sp>
        <p:nvSpPr>
          <p:cNvPr id="3" name="Text 1"/>
          <p:cNvSpPr/>
          <p:nvPr>
            <p:ph type="title"/>
          </p:nvPr>
        </p:nvSpPr>
        <p:spPr>
          <a:xfrm>
            <a:off x="812800" y="1840905"/>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0E0E1F"/>
                </a:solidFill>
                <a:latin typeface="Arial" pitchFamily="34" charset="0"/>
                <a:ea typeface="Arial" pitchFamily="34" charset="-122"/>
                <a:cs typeface="Arial" pitchFamily="34" charset="-120"/>
              </a:rPr>
              <a:t>GridFlow</a:t>
            </a:r>
            <a:endParaRPr lang="en-US" sz="4400" dirty="0"/>
          </a:p>
        </p:txBody>
      </p:sp>
      <p:sp>
        <p:nvSpPr>
          <p:cNvPr id="4" name="Text 2"/>
          <p:cNvSpPr/>
          <p:nvPr/>
        </p:nvSpPr>
        <p:spPr>
          <a:xfrm>
            <a:off x="812800" y="2734965"/>
            <a:ext cx="981075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0E0E1F"/>
                </a:solidFill>
                <a:latin typeface="Arial" pitchFamily="34" charset="0"/>
                <a:ea typeface="Arial" pitchFamily="34" charset="-122"/>
                <a:cs typeface="Arial" pitchFamily="34" charset="-120"/>
              </a:rPr>
              <a:t>Senior Electrical Lab Technician, working on </a:t>
            </a:r>
            <a:r>
              <a:rPr lang="en-US" sz="2000" b="1" dirty="0">
                <a:solidFill>
                  <a:srgbClr val="0E0E1F"/>
                </a:solidFill>
                <a:latin typeface="Arial" pitchFamily="34" charset="0"/>
                <a:ea typeface="Arial" pitchFamily="34" charset="-122"/>
                <a:cs typeface="Arial" pitchFamily="34" charset="-120"/>
              </a:rPr>
              <a:t>vanadium redox flow batteries</a:t>
            </a:r>
            <a:r>
              <a:rPr lang="en-US" sz="2000" dirty="0">
                <a:solidFill>
                  <a:srgbClr val="0E0E1F"/>
                </a:solidFill>
                <a:latin typeface="Arial" pitchFamily="34" charset="0"/>
                <a:ea typeface="Arial" pitchFamily="34" charset="-122"/>
                <a:cs typeface="Arial" pitchFamily="34" charset="-120"/>
              </a:rPr>
              <a:t> for long duration storage.</a:t>
            </a:r>
            <a:endParaRPr lang="en-US" sz="2000" dirty="0"/>
          </a:p>
        </p:txBody>
      </p:sp>
      <p:sp>
        <p:nvSpPr>
          <p:cNvPr id="5" name="Shape 3"/>
          <p:cNvSpPr/>
          <p:nvPr/>
        </p:nvSpPr>
        <p:spPr>
          <a:xfrm>
            <a:off x="815975" y="3728740"/>
            <a:ext cx="3397250" cy="1813322"/>
          </a:xfrm>
          <a:prstGeom prst="roundRect">
            <a:avLst>
              <a:gd name="adj" fmla="val 6829"/>
            </a:avLst>
          </a:prstGeom>
          <a:solidFill>
            <a:srgbClr val="FFFFFF"/>
          </a:solidFill>
          <a:ln w="6350">
            <a:solidFill>
              <a:srgbClr val="E3E0D8"/>
            </a:solidFill>
            <a:prstDash val="solid"/>
          </a:ln>
        </p:spPr>
      </p:sp>
      <p:sp>
        <p:nvSpPr>
          <p:cNvPr id="6" name="Text 4"/>
          <p:cNvSpPr/>
          <p:nvPr/>
        </p:nvSpPr>
        <p:spPr>
          <a:xfrm>
            <a:off x="1073150" y="3985915"/>
            <a:ext cx="29693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E0E1F"/>
                </a:solidFill>
                <a:latin typeface="Arial" pitchFamily="34" charset="0"/>
                <a:ea typeface="Arial" pitchFamily="34" charset="-122"/>
                <a:cs typeface="Arial" pitchFamily="34" charset="-120"/>
              </a:rPr>
              <a:t>What a flow battery is</a:t>
            </a:r>
            <a:endParaRPr lang="en-US" sz="1500" dirty="0"/>
          </a:p>
        </p:txBody>
      </p:sp>
      <p:sp>
        <p:nvSpPr>
          <p:cNvPr id="7" name="Text 5"/>
          <p:cNvSpPr/>
          <p:nvPr/>
        </p:nvSpPr>
        <p:spPr>
          <a:xfrm>
            <a:off x="1073150" y="4290715"/>
            <a:ext cx="2969387" cy="771029"/>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4A5568"/>
                </a:solidFill>
                <a:latin typeface="Arial" pitchFamily="34" charset="0"/>
                <a:ea typeface="Arial" pitchFamily="34" charset="-122"/>
                <a:cs typeface="Arial" pitchFamily="34" charset="-120"/>
              </a:rPr>
              <a:t>Liquid electrolyte in tanks instead of solid cells. Scale the tanks, scale the hours of storage.</a:t>
            </a:r>
            <a:endParaRPr lang="en-US" sz="1350" dirty="0"/>
          </a:p>
        </p:txBody>
      </p:sp>
      <p:sp>
        <p:nvSpPr>
          <p:cNvPr id="8" name="Shape 6"/>
          <p:cNvSpPr/>
          <p:nvPr/>
        </p:nvSpPr>
        <p:spPr>
          <a:xfrm>
            <a:off x="4397375" y="3728740"/>
            <a:ext cx="3397250" cy="1813322"/>
          </a:xfrm>
          <a:prstGeom prst="roundRect">
            <a:avLst>
              <a:gd name="adj" fmla="val 6829"/>
            </a:avLst>
          </a:prstGeom>
          <a:solidFill>
            <a:srgbClr val="FFFFFF"/>
          </a:solidFill>
          <a:ln w="6350">
            <a:solidFill>
              <a:srgbClr val="E3E0D8"/>
            </a:solidFill>
            <a:prstDash val="solid"/>
          </a:ln>
        </p:spPr>
      </p:sp>
      <p:sp>
        <p:nvSpPr>
          <p:cNvPr id="9" name="Text 7"/>
          <p:cNvSpPr/>
          <p:nvPr/>
        </p:nvSpPr>
        <p:spPr>
          <a:xfrm>
            <a:off x="4654550" y="3985915"/>
            <a:ext cx="29693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E0E1F"/>
                </a:solidFill>
                <a:latin typeface="Arial" pitchFamily="34" charset="0"/>
                <a:ea typeface="Arial" pitchFamily="34" charset="-122"/>
                <a:cs typeface="Arial" pitchFamily="34" charset="-120"/>
              </a:rPr>
              <a:t>What I do</a:t>
            </a:r>
            <a:endParaRPr lang="en-US" sz="1500" dirty="0"/>
          </a:p>
        </p:txBody>
      </p:sp>
      <p:sp>
        <p:nvSpPr>
          <p:cNvPr id="10" name="Text 8"/>
          <p:cNvSpPr/>
          <p:nvPr/>
        </p:nvSpPr>
        <p:spPr>
          <a:xfrm>
            <a:off x="4654550" y="4290715"/>
            <a:ext cx="2969387" cy="1019572"/>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4A5568"/>
                </a:solidFill>
                <a:latin typeface="Arial" pitchFamily="34" charset="0"/>
                <a:ea typeface="Arial" pitchFamily="34" charset="-122"/>
                <a:cs typeface="Arial" pitchFamily="34" charset="-120"/>
              </a:rPr>
              <a:t>ESP32 and Particle Photon firmware in C++. Current, voltage, temp, and GPS sensors over BLE and Wi-Fi. Python on the DAQ side.</a:t>
            </a:r>
            <a:endParaRPr lang="en-US" sz="1350" dirty="0"/>
          </a:p>
        </p:txBody>
      </p:sp>
      <p:sp>
        <p:nvSpPr>
          <p:cNvPr id="11" name="Shape 9"/>
          <p:cNvSpPr/>
          <p:nvPr/>
        </p:nvSpPr>
        <p:spPr>
          <a:xfrm>
            <a:off x="7978775" y="3728740"/>
            <a:ext cx="3397250" cy="1813322"/>
          </a:xfrm>
          <a:prstGeom prst="roundRect">
            <a:avLst>
              <a:gd name="adj" fmla="val 6829"/>
            </a:avLst>
          </a:prstGeom>
          <a:solidFill>
            <a:srgbClr val="FFFFFF"/>
          </a:solidFill>
          <a:ln w="6350">
            <a:solidFill>
              <a:srgbClr val="E3E0D8"/>
            </a:solidFill>
            <a:prstDash val="solid"/>
          </a:ln>
        </p:spPr>
      </p:sp>
      <p:sp>
        <p:nvSpPr>
          <p:cNvPr id="12" name="Text 10"/>
          <p:cNvSpPr/>
          <p:nvPr/>
        </p:nvSpPr>
        <p:spPr>
          <a:xfrm>
            <a:off x="8235950" y="3985915"/>
            <a:ext cx="29693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E0E1F"/>
                </a:solidFill>
                <a:latin typeface="Arial" pitchFamily="34" charset="0"/>
                <a:ea typeface="Arial" pitchFamily="34" charset="-122"/>
                <a:cs typeface="Arial" pitchFamily="34" charset="-120"/>
              </a:rPr>
              <a:t>Why it matters</a:t>
            </a:r>
            <a:endParaRPr lang="en-US" sz="1500" dirty="0"/>
          </a:p>
        </p:txBody>
      </p:sp>
      <p:sp>
        <p:nvSpPr>
          <p:cNvPr id="13" name="Text 11"/>
          <p:cNvSpPr/>
          <p:nvPr/>
        </p:nvSpPr>
        <p:spPr>
          <a:xfrm>
            <a:off x="8235950" y="4290715"/>
            <a:ext cx="2969387" cy="771029"/>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4A5568"/>
                </a:solidFill>
                <a:latin typeface="Arial" pitchFamily="34" charset="0"/>
                <a:ea typeface="Arial" pitchFamily="34" charset="-122"/>
                <a:cs typeface="Arial" pitchFamily="34" charset="-120"/>
              </a:rPr>
              <a:t>Commercial energy resiliency. Keeping the lights on when the grid cannot.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E1F"/>
        </a:solidFill>
      </p:bgPr>
    </p:bg>
    <p:spTree>
      <p:nvGrpSpPr>
        <p:cNvPr id="1" name=""/>
        <p:cNvGrpSpPr/>
        <p:nvPr/>
      </p:nvGrpSpPr>
      <p:grpSpPr>
        <a:xfrm>
          <a:off x="0" y="0"/>
          <a:ext cx="0" cy="0"/>
          <a:chOff x="0" y="0"/>
          <a:chExt cx="0" cy="0"/>
        </a:xfrm>
      </p:grpSpPr>
      <p:sp>
        <p:nvSpPr>
          <p:cNvPr id="2" name="Text 0"/>
          <p:cNvSpPr/>
          <p:nvPr/>
        </p:nvSpPr>
        <p:spPr>
          <a:xfrm>
            <a:off x="812800" y="1312664"/>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8FC9D4"/>
                </a:solidFill>
                <a:latin typeface="Arial" pitchFamily="34" charset="0"/>
                <a:ea typeface="Arial" pitchFamily="34" charset="-122"/>
                <a:cs typeface="Arial" pitchFamily="34" charset="-120"/>
              </a:rPr>
              <a:t>DAY JOB, PART TWO</a:t>
            </a:r>
            <a:endParaRPr lang="en-US" sz="1400" dirty="0"/>
          </a:p>
        </p:txBody>
      </p:sp>
      <p:sp>
        <p:nvSpPr>
          <p:cNvPr id="3" name="Text 1"/>
          <p:cNvSpPr/>
          <p:nvPr>
            <p:ph type="title"/>
          </p:nvPr>
        </p:nvSpPr>
        <p:spPr>
          <a:xfrm>
            <a:off x="812800" y="1840905"/>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BFAF7"/>
                </a:solidFill>
                <a:latin typeface="Arial" pitchFamily="34" charset="0"/>
                <a:ea typeface="Arial" pitchFamily="34" charset="-122"/>
                <a:cs typeface="Arial" pitchFamily="34" charset="-120"/>
              </a:rPr>
              <a:t>Pii Energy</a:t>
            </a:r>
            <a:endParaRPr lang="en-US" sz="4400" dirty="0"/>
          </a:p>
        </p:txBody>
      </p:sp>
      <p:sp>
        <p:nvSpPr>
          <p:cNvPr id="4" name="Text 2"/>
          <p:cNvSpPr/>
          <p:nvPr/>
        </p:nvSpPr>
        <p:spPr>
          <a:xfrm>
            <a:off x="812800" y="2734965"/>
            <a:ext cx="981075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BFAF7"/>
                </a:solidFill>
                <a:latin typeface="Arial" pitchFamily="34" charset="0"/>
                <a:ea typeface="Arial" pitchFamily="34" charset="-122"/>
                <a:cs typeface="Arial" pitchFamily="34" charset="-120"/>
              </a:rPr>
              <a:t>Lead Software Developer on the </a:t>
            </a:r>
            <a:r>
              <a:rPr lang="en-US" sz="2000" b="1" dirty="0">
                <a:solidFill>
                  <a:srgbClr val="FBFAF7"/>
                </a:solidFill>
                <a:latin typeface="Arial" pitchFamily="34" charset="0"/>
                <a:ea typeface="Arial" pitchFamily="34" charset="-122"/>
                <a:cs typeface="Arial" pitchFamily="34" charset="-120"/>
              </a:rPr>
              <a:t>Edge 2000</a:t>
            </a:r>
            <a:r>
              <a:rPr lang="en-US" sz="2000" dirty="0">
                <a:solidFill>
                  <a:srgbClr val="FBFAF7"/>
                </a:solidFill>
                <a:latin typeface="Arial" pitchFamily="34" charset="0"/>
                <a:ea typeface="Arial" pitchFamily="34" charset="-122"/>
                <a:cs typeface="Arial" pitchFamily="34" charset="-120"/>
              </a:rPr>
              <a:t>, a plug-in solar and battery system for regular people. Launched Pi Day 2025. Featured in PV Magazine.</a:t>
            </a:r>
            <a:endParaRPr lang="en-US" sz="2000" dirty="0"/>
          </a:p>
        </p:txBody>
      </p:sp>
      <p:sp>
        <p:nvSpPr>
          <p:cNvPr id="5" name="Shape 3"/>
          <p:cNvSpPr/>
          <p:nvPr/>
        </p:nvSpPr>
        <p:spPr>
          <a:xfrm>
            <a:off x="815975" y="3728740"/>
            <a:ext cx="3397250" cy="1813322"/>
          </a:xfrm>
          <a:prstGeom prst="roundRect">
            <a:avLst>
              <a:gd name="adj" fmla="val 6829"/>
            </a:avLst>
          </a:prstGeom>
          <a:solidFill>
            <a:srgbClr val="1C1C33"/>
          </a:solidFill>
          <a:ln w="6350">
            <a:solidFill>
              <a:srgbClr val="2E2E4A"/>
            </a:solidFill>
            <a:prstDash val="solid"/>
          </a:ln>
        </p:spPr>
      </p:sp>
      <p:sp>
        <p:nvSpPr>
          <p:cNvPr id="6" name="Text 4"/>
          <p:cNvSpPr/>
          <p:nvPr/>
        </p:nvSpPr>
        <p:spPr>
          <a:xfrm>
            <a:off x="1073150" y="3985915"/>
            <a:ext cx="29693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C4A8"/>
                </a:solidFill>
                <a:latin typeface="Arial" pitchFamily="34" charset="0"/>
                <a:ea typeface="Arial" pitchFamily="34" charset="-122"/>
                <a:cs typeface="Arial" pitchFamily="34" charset="-120"/>
              </a:rPr>
              <a:t>This is IoT</a:t>
            </a:r>
            <a:endParaRPr lang="en-US" sz="1500" dirty="0"/>
          </a:p>
        </p:txBody>
      </p:sp>
      <p:sp>
        <p:nvSpPr>
          <p:cNvPr id="7" name="Text 5"/>
          <p:cNvSpPr/>
          <p:nvPr/>
        </p:nvSpPr>
        <p:spPr>
          <a:xfrm>
            <a:off x="1073150" y="4290715"/>
            <a:ext cx="2969387" cy="771029"/>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A9A9C0"/>
                </a:solidFill>
                <a:latin typeface="Arial" pitchFamily="34" charset="0"/>
                <a:ea typeface="Arial" pitchFamily="34" charset="-122"/>
                <a:cs typeface="Arial" pitchFamily="34" charset="-120"/>
              </a:rPr>
              <a:t>Hardware in someone's house, reporting state every minute, controlled from an app.</a:t>
            </a:r>
            <a:endParaRPr lang="en-US" sz="1350" dirty="0"/>
          </a:p>
        </p:txBody>
      </p:sp>
      <p:sp>
        <p:nvSpPr>
          <p:cNvPr id="8" name="Shape 6"/>
          <p:cNvSpPr/>
          <p:nvPr/>
        </p:nvSpPr>
        <p:spPr>
          <a:xfrm>
            <a:off x="4397375" y="3728740"/>
            <a:ext cx="3397250" cy="1813322"/>
          </a:xfrm>
          <a:prstGeom prst="roundRect">
            <a:avLst>
              <a:gd name="adj" fmla="val 6829"/>
            </a:avLst>
          </a:prstGeom>
          <a:solidFill>
            <a:srgbClr val="1C1C33"/>
          </a:solidFill>
          <a:ln w="6350">
            <a:solidFill>
              <a:srgbClr val="2E2E4A"/>
            </a:solidFill>
            <a:prstDash val="solid"/>
          </a:ln>
        </p:spPr>
      </p:sp>
      <p:sp>
        <p:nvSpPr>
          <p:cNvPr id="9" name="Text 7"/>
          <p:cNvSpPr/>
          <p:nvPr/>
        </p:nvSpPr>
        <p:spPr>
          <a:xfrm>
            <a:off x="4654550" y="3985915"/>
            <a:ext cx="29693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C4A8"/>
                </a:solidFill>
                <a:latin typeface="Arial" pitchFamily="34" charset="0"/>
                <a:ea typeface="Arial" pitchFamily="34" charset="-122"/>
                <a:cs typeface="Arial" pitchFamily="34" charset="-120"/>
              </a:rPr>
              <a:t>The stack</a:t>
            </a:r>
            <a:endParaRPr lang="en-US" sz="1500" dirty="0"/>
          </a:p>
        </p:txBody>
      </p:sp>
      <p:sp>
        <p:nvSpPr>
          <p:cNvPr id="10" name="Text 8"/>
          <p:cNvSpPr/>
          <p:nvPr/>
        </p:nvSpPr>
        <p:spPr>
          <a:xfrm>
            <a:off x="4654550" y="4290715"/>
            <a:ext cx="2969387" cy="1019572"/>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A9A9C0"/>
                </a:solidFill>
                <a:latin typeface="Arial" pitchFamily="34" charset="0"/>
                <a:ea typeface="Arial" pitchFamily="34" charset="-122"/>
                <a:cs typeface="Arial" pitchFamily="34" charset="-120"/>
              </a:rPr>
              <a:t>Device telemetry into AWS: API Gateway in front of Lambda. Room-level outlet control and overcurrent detection in the app.</a:t>
            </a:r>
            <a:endParaRPr lang="en-US" sz="1350" dirty="0"/>
          </a:p>
        </p:txBody>
      </p:sp>
      <p:sp>
        <p:nvSpPr>
          <p:cNvPr id="11" name="Shape 9"/>
          <p:cNvSpPr/>
          <p:nvPr/>
        </p:nvSpPr>
        <p:spPr>
          <a:xfrm>
            <a:off x="7978775" y="3728740"/>
            <a:ext cx="3397250" cy="1813322"/>
          </a:xfrm>
          <a:prstGeom prst="roundRect">
            <a:avLst>
              <a:gd name="adj" fmla="val 6829"/>
            </a:avLst>
          </a:prstGeom>
          <a:solidFill>
            <a:srgbClr val="1C1C33"/>
          </a:solidFill>
          <a:ln w="6350">
            <a:solidFill>
              <a:srgbClr val="2E2E4A"/>
            </a:solidFill>
            <a:prstDash val="solid"/>
          </a:ln>
        </p:spPr>
      </p:sp>
      <p:sp>
        <p:nvSpPr>
          <p:cNvPr id="12" name="Text 10"/>
          <p:cNvSpPr/>
          <p:nvPr/>
        </p:nvSpPr>
        <p:spPr>
          <a:xfrm>
            <a:off x="8235950" y="3985915"/>
            <a:ext cx="29693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C4A8"/>
                </a:solidFill>
                <a:latin typeface="Arial" pitchFamily="34" charset="0"/>
                <a:ea typeface="Arial" pitchFamily="34" charset="-122"/>
                <a:cs typeface="Arial" pitchFamily="34" charset="-120"/>
              </a:rPr>
              <a:t>The hard part</a:t>
            </a:r>
            <a:endParaRPr lang="en-US" sz="1500" dirty="0"/>
          </a:p>
        </p:txBody>
      </p:sp>
      <p:sp>
        <p:nvSpPr>
          <p:cNvPr id="13" name="Text 11"/>
          <p:cNvSpPr/>
          <p:nvPr/>
        </p:nvSpPr>
        <p:spPr>
          <a:xfrm>
            <a:off x="8235950" y="4290715"/>
            <a:ext cx="2969387" cy="771029"/>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A9A9C0"/>
                </a:solidFill>
                <a:latin typeface="Arial" pitchFamily="34" charset="0"/>
                <a:ea typeface="Arial" pitchFamily="34" charset="-122"/>
                <a:cs typeface="Arial" pitchFamily="34" charset="-120"/>
              </a:rPr>
              <a:t>Not the code. Making it simple enough that nobody needs an electrician to use it.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C4A8"/>
        </a:solidFill>
      </p:bgPr>
    </p:bg>
    <p:spTree>
      <p:nvGrpSpPr>
        <p:cNvPr id="1" name=""/>
        <p:cNvGrpSpPr/>
        <p:nvPr/>
      </p:nvGrpSpPr>
      <p:grpSpPr>
        <a:xfrm>
          <a:off x="0" y="0"/>
          <a:ext cx="0" cy="0"/>
          <a:chOff x="0" y="0"/>
          <a:chExt cx="0" cy="0"/>
        </a:xfrm>
      </p:grpSpPr>
      <p:sp>
        <p:nvSpPr>
          <p:cNvPr id="2" name="Text 0"/>
          <p:cNvSpPr/>
          <p:nvPr>
            <p:ph type="title"/>
          </p:nvPr>
        </p:nvSpPr>
        <p:spPr>
          <a:xfrm>
            <a:off x="812800" y="1659533"/>
            <a:ext cx="9810750" cy="1451769"/>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0E0E1F"/>
                </a:solidFill>
                <a:latin typeface="Arial" pitchFamily="34" charset="0"/>
                <a:ea typeface="Arial" pitchFamily="34" charset="-122"/>
                <a:cs typeface="Arial" pitchFamily="34" charset="-120"/>
              </a:rPr>
              <a:t>Nobody hired me for the thing I studied</a:t>
            </a:r>
            <a:endParaRPr lang="en-US" sz="5200" dirty="0"/>
          </a:p>
        </p:txBody>
      </p:sp>
      <p:sp>
        <p:nvSpPr>
          <p:cNvPr id="3" name="Text 1"/>
          <p:cNvSpPr/>
          <p:nvPr/>
        </p:nvSpPr>
        <p:spPr>
          <a:xfrm>
            <a:off x="812800" y="3390702"/>
            <a:ext cx="9483725" cy="1185366"/>
          </a:xfrm>
          <a:prstGeom prst="rect">
            <a:avLst/>
          </a:prstGeom>
          <a:noFill/>
          <a:ln/>
        </p:spPr>
        <p:txBody>
          <a:bodyPr wrap="square" lIns="0" tIns="0" rIns="0" bIns="0" rtlCol="0" anchor="t">
            <a:normAutofit/>
          </a:bodyPr>
          <a:lstStyle/>
          <a:p>
            <a:pPr algn="l" indent="0" marL="0">
              <a:lnSpc>
                <a:spcPts val="3045"/>
              </a:lnSpc>
              <a:buNone/>
            </a:pPr>
            <a:r>
              <a:rPr lang="en-US" sz="2100" dirty="0">
                <a:solidFill>
                  <a:srgbClr val="3A2A1E"/>
                </a:solidFill>
                <a:latin typeface="Arial" pitchFamily="34" charset="0"/>
                <a:ea typeface="Arial" pitchFamily="34" charset="-122"/>
                <a:cs typeface="Arial" pitchFamily="34" charset="-120"/>
              </a:rPr>
              <a:t>Solar physics did not lead to solar hardware on purpose. The bootcamp did not teach me flow batteries. Every job I have came from being curious out loud and knowing somebody.</a:t>
            </a:r>
            <a:endParaRPr lang="en-US" sz="2100" dirty="0"/>
          </a:p>
        </p:txBody>
      </p:sp>
      <p:sp>
        <p:nvSpPr>
          <p:cNvPr id="4" name="Text 2"/>
          <p:cNvSpPr/>
          <p:nvPr/>
        </p:nvSpPr>
        <p:spPr>
          <a:xfrm>
            <a:off x="812800" y="4855468"/>
            <a:ext cx="9483725" cy="368300"/>
          </a:xfrm>
          <a:prstGeom prst="rect">
            <a:avLst/>
          </a:prstGeom>
          <a:noFill/>
          <a:ln/>
        </p:spPr>
        <p:txBody>
          <a:bodyPr wrap="square" lIns="0" tIns="0" rIns="0" bIns="0" rtlCol="0" anchor="t">
            <a:normAutofit/>
          </a:bodyPr>
          <a:lstStyle/>
          <a:p>
            <a:pPr algn="l" indent="0" marL="0">
              <a:lnSpc>
                <a:spcPts val="2700"/>
              </a:lnSpc>
              <a:buNone/>
            </a:pPr>
            <a:r>
              <a:rPr lang="en-US" sz="1800" b="1" dirty="0">
                <a:solidFill>
                  <a:srgbClr val="3A2A1E"/>
                </a:solidFill>
                <a:latin typeface="Arial" pitchFamily="34" charset="0"/>
                <a:ea typeface="Arial" pitchFamily="34" charset="-122"/>
                <a:cs typeface="Arial" pitchFamily="34" charset="-120"/>
              </a:rPr>
              <a:t>Build things. Show people. Say yes to the room.</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157747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C87A4A"/>
                </a:solidFill>
                <a:latin typeface="Arial" pitchFamily="34" charset="0"/>
                <a:ea typeface="Arial" pitchFamily="34" charset="-122"/>
                <a:cs typeface="Arial" pitchFamily="34" charset="-120"/>
              </a:rPr>
              <a:t>THE OTHER HALF OF THE JOB</a:t>
            </a:r>
            <a:endParaRPr lang="en-US" sz="1400" dirty="0"/>
          </a:p>
        </p:txBody>
      </p:sp>
      <p:sp>
        <p:nvSpPr>
          <p:cNvPr id="3" name="Text 1"/>
          <p:cNvSpPr/>
          <p:nvPr>
            <p:ph type="title"/>
          </p:nvPr>
        </p:nvSpPr>
        <p:spPr>
          <a:xfrm>
            <a:off x="812800" y="2105720"/>
            <a:ext cx="9483725"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0E0E1F"/>
                </a:solidFill>
                <a:latin typeface="Arial" pitchFamily="34" charset="0"/>
                <a:ea typeface="Arial" pitchFamily="34" charset="-122"/>
                <a:cs typeface="Arial" pitchFamily="34" charset="-120"/>
              </a:rPr>
              <a:t>I build community on purpose</a:t>
            </a:r>
            <a:endParaRPr lang="en-US" sz="4400" dirty="0"/>
          </a:p>
        </p:txBody>
      </p:sp>
      <p:sp>
        <p:nvSpPr>
          <p:cNvPr id="4" name="Shape 2"/>
          <p:cNvSpPr/>
          <p:nvPr/>
        </p:nvSpPr>
        <p:spPr>
          <a:xfrm>
            <a:off x="815975" y="3002955"/>
            <a:ext cx="3397250" cy="1671141"/>
          </a:xfrm>
          <a:prstGeom prst="roundRect">
            <a:avLst>
              <a:gd name="adj" fmla="val 7410"/>
            </a:avLst>
          </a:prstGeom>
          <a:solidFill>
            <a:srgbClr val="FFFFFF"/>
          </a:solidFill>
          <a:ln w="6350">
            <a:solidFill>
              <a:srgbClr val="E3E0D8"/>
            </a:solidFill>
            <a:prstDash val="solid"/>
          </a:ln>
        </p:spPr>
      </p:sp>
      <p:sp>
        <p:nvSpPr>
          <p:cNvPr id="5" name="Text 3"/>
          <p:cNvSpPr/>
          <p:nvPr/>
        </p:nvSpPr>
        <p:spPr>
          <a:xfrm>
            <a:off x="1098550" y="3285530"/>
            <a:ext cx="291706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0E1F"/>
                </a:solidFill>
                <a:latin typeface="Arial" pitchFamily="34" charset="0"/>
                <a:ea typeface="Arial" pitchFamily="34" charset="-122"/>
                <a:cs typeface="Arial" pitchFamily="34" charset="-120"/>
              </a:rPr>
              <a:t>NM Tech Talks</a:t>
            </a:r>
            <a:endParaRPr lang="en-US" sz="1600" dirty="0"/>
          </a:p>
        </p:txBody>
      </p:sp>
      <p:sp>
        <p:nvSpPr>
          <p:cNvPr id="6" name="Text 4"/>
          <p:cNvSpPr/>
          <p:nvPr/>
        </p:nvSpPr>
        <p:spPr>
          <a:xfrm>
            <a:off x="1098550" y="3618210"/>
            <a:ext cx="2917063"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Founder and board member. I run marketing, and I co-organize the Tech Access track at TechFest.</a:t>
            </a:r>
            <a:endParaRPr lang="en-US" sz="1400" dirty="0"/>
          </a:p>
        </p:txBody>
      </p:sp>
      <p:sp>
        <p:nvSpPr>
          <p:cNvPr id="7" name="Shape 5"/>
          <p:cNvSpPr/>
          <p:nvPr/>
        </p:nvSpPr>
        <p:spPr>
          <a:xfrm>
            <a:off x="4397375" y="3002955"/>
            <a:ext cx="3397250" cy="1671141"/>
          </a:xfrm>
          <a:prstGeom prst="roundRect">
            <a:avLst>
              <a:gd name="adj" fmla="val 7410"/>
            </a:avLst>
          </a:prstGeom>
          <a:solidFill>
            <a:srgbClr val="FFFFFF"/>
          </a:solidFill>
          <a:ln w="6350">
            <a:solidFill>
              <a:srgbClr val="E3E0D8"/>
            </a:solidFill>
            <a:prstDash val="solid"/>
          </a:ln>
        </p:spPr>
      </p:sp>
      <p:sp>
        <p:nvSpPr>
          <p:cNvPr id="8" name="Text 6"/>
          <p:cNvSpPr/>
          <p:nvPr/>
        </p:nvSpPr>
        <p:spPr>
          <a:xfrm>
            <a:off x="4679950" y="3285530"/>
            <a:ext cx="291706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0E1F"/>
                </a:solidFill>
                <a:latin typeface="Arial" pitchFamily="34" charset="0"/>
                <a:ea typeface="Arial" pitchFamily="34" charset="-122"/>
                <a:cs typeface="Arial" pitchFamily="34" charset="-120"/>
              </a:rPr>
              <a:t>Techqueria NM</a:t>
            </a:r>
            <a:endParaRPr lang="en-US" sz="1600" dirty="0"/>
          </a:p>
        </p:txBody>
      </p:sp>
      <p:sp>
        <p:nvSpPr>
          <p:cNvPr id="9" name="Text 7"/>
          <p:cNvSpPr/>
          <p:nvPr/>
        </p:nvSpPr>
        <p:spPr>
          <a:xfrm>
            <a:off x="4679950" y="3618210"/>
            <a:ext cx="2917063"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Chapter Director. Latinx professionals in tech, here in New Mexico.</a:t>
            </a:r>
            <a:endParaRPr lang="en-US" sz="1400" dirty="0"/>
          </a:p>
        </p:txBody>
      </p:sp>
      <p:sp>
        <p:nvSpPr>
          <p:cNvPr id="10" name="Shape 8"/>
          <p:cNvSpPr/>
          <p:nvPr/>
        </p:nvSpPr>
        <p:spPr>
          <a:xfrm>
            <a:off x="7978775" y="3002955"/>
            <a:ext cx="3397250" cy="1671141"/>
          </a:xfrm>
          <a:prstGeom prst="roundRect">
            <a:avLst>
              <a:gd name="adj" fmla="val 7410"/>
            </a:avLst>
          </a:prstGeom>
          <a:solidFill>
            <a:srgbClr val="FFFFFF"/>
          </a:solidFill>
          <a:ln w="6350">
            <a:solidFill>
              <a:srgbClr val="E3E0D8"/>
            </a:solidFill>
            <a:prstDash val="solid"/>
          </a:ln>
        </p:spPr>
      </p:sp>
      <p:sp>
        <p:nvSpPr>
          <p:cNvPr id="11" name="Text 9"/>
          <p:cNvSpPr/>
          <p:nvPr/>
        </p:nvSpPr>
        <p:spPr>
          <a:xfrm>
            <a:off x="8261350" y="3285530"/>
            <a:ext cx="291706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0E1F"/>
                </a:solidFill>
                <a:latin typeface="Arial" pitchFamily="34" charset="0"/>
                <a:ea typeface="Arial" pitchFamily="34" charset="-122"/>
                <a:cs typeface="Arial" pitchFamily="34" charset="-120"/>
              </a:rPr>
              <a:t>Q-STEM</a:t>
            </a:r>
            <a:endParaRPr lang="en-US" sz="1600" dirty="0"/>
          </a:p>
        </p:txBody>
      </p:sp>
      <p:sp>
        <p:nvSpPr>
          <p:cNvPr id="12" name="Text 10"/>
          <p:cNvSpPr/>
          <p:nvPr/>
        </p:nvSpPr>
        <p:spPr>
          <a:xfrm>
            <a:off x="8261350" y="3618210"/>
            <a:ext cx="2917063"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Founder. A meetup for LGBTQ+ people working in STEM.</a:t>
            </a:r>
            <a:endParaRPr lang="en-US" sz="1400" dirty="0"/>
          </a:p>
        </p:txBody>
      </p:sp>
      <p:sp>
        <p:nvSpPr>
          <p:cNvPr id="13" name="Text 11"/>
          <p:cNvSpPr/>
          <p:nvPr/>
        </p:nvSpPr>
        <p:spPr>
          <a:xfrm>
            <a:off x="812800" y="4956671"/>
            <a:ext cx="9810750" cy="349250"/>
          </a:xfrm>
          <a:prstGeom prst="rect">
            <a:avLst/>
          </a:prstGeom>
          <a:noFill/>
          <a:ln/>
        </p:spPr>
        <p:txBody>
          <a:bodyPr wrap="square" lIns="0" tIns="0" rIns="0" bIns="0" rtlCol="0" anchor="t">
            <a:normAutofit/>
          </a:bodyPr>
          <a:lstStyle/>
          <a:p>
            <a:pPr algn="l" indent="0" marL="0">
              <a:lnSpc>
                <a:spcPts val="2550"/>
              </a:lnSpc>
              <a:buNone/>
            </a:pPr>
            <a:r>
              <a:rPr lang="en-US" sz="1700" dirty="0">
                <a:solidFill>
                  <a:srgbClr val="0E0E1F"/>
                </a:solidFill>
                <a:latin typeface="Arial" pitchFamily="34" charset="0"/>
                <a:ea typeface="Arial" pitchFamily="34" charset="-122"/>
                <a:cs typeface="Arial" pitchFamily="34" charset="-120"/>
              </a:rPr>
              <a:t>Showing up to these rooms is how I met almost everyone who later helped me.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1297682"/>
            <a:ext cx="7142226" cy="327620"/>
          </a:xfrm>
          <a:prstGeom prst="rect">
            <a:avLst/>
          </a:prstGeom>
          <a:noFill/>
          <a:ln/>
        </p:spPr>
        <p:txBody>
          <a:bodyPr wrap="square" lIns="0" tIns="0" rIns="0" bIns="0" rtlCol="0" anchor="t">
            <a:normAutofit/>
          </a:bodyPr>
          <a:lstStyle/>
          <a:p>
            <a:pPr algn="l" indent="0" marL="0">
              <a:lnSpc>
                <a:spcPts val="2380"/>
              </a:lnSpc>
              <a:buNone/>
            </a:pPr>
            <a:r>
              <a:rPr lang="en-US" sz="1700" b="1" spc="150" kern="0" dirty="0">
                <a:solidFill>
                  <a:srgbClr val="F5C4A8"/>
                </a:solidFill>
                <a:latin typeface="Arial" pitchFamily="34" charset="0"/>
                <a:ea typeface="Arial" pitchFamily="34" charset="-122"/>
                <a:cs typeface="Arial" pitchFamily="34" charset="-120"/>
              </a:rPr>
              <a:t>NM TECH</a:t>
            </a:r>
            <a:r>
              <a:rPr lang="en-US" sz="1700" b="1" spc="150" kern="0" dirty="0">
                <a:solidFill>
                  <a:srgbClr val="FBFAF7"/>
                </a:solidFill>
                <a:latin typeface="Arial" pitchFamily="34" charset="0"/>
                <a:ea typeface="Arial" pitchFamily="34" charset="-122"/>
                <a:cs typeface="Arial" pitchFamily="34" charset="-120"/>
              </a:rPr>
              <a:t>TALKS PRESENTS</a:t>
            </a:r>
            <a:endParaRPr lang="en-US" sz="1700" dirty="0"/>
          </a:p>
        </p:txBody>
      </p:sp>
      <p:sp>
        <p:nvSpPr>
          <p:cNvPr id="4" name="Text 1"/>
          <p:cNvSpPr/>
          <p:nvPr>
            <p:ph type="title"/>
          </p:nvPr>
        </p:nvSpPr>
        <p:spPr>
          <a:xfrm>
            <a:off x="812800" y="1777702"/>
            <a:ext cx="7142226" cy="990600"/>
          </a:xfrm>
          <a:prstGeom prst="rect">
            <a:avLst/>
          </a:prstGeom>
          <a:noFill/>
          <a:ln/>
        </p:spPr>
        <p:txBody>
          <a:bodyPr wrap="square" lIns="0" tIns="0" rIns="0" bIns="0" rtlCol="0" anchor="t">
            <a:normAutofit/>
          </a:bodyPr>
          <a:lstStyle/>
          <a:p>
            <a:pPr algn="l" indent="0" marL="0">
              <a:lnSpc>
                <a:spcPts val="7600"/>
              </a:lnSpc>
              <a:buNone/>
            </a:pPr>
            <a:r>
              <a:rPr lang="en-US" sz="8000" b="1" i="0" dirty="0">
                <a:solidFill>
                  <a:srgbClr val="FBFAF7"/>
                </a:solidFill>
                <a:latin typeface="Arial" pitchFamily="34" charset="0"/>
                <a:ea typeface="Arial" pitchFamily="34" charset="-122"/>
                <a:cs typeface="Arial" pitchFamily="34" charset="-120"/>
              </a:rPr>
              <a:t>TechFest</a:t>
            </a:r>
            <a:endParaRPr lang="en-US" sz="8000" dirty="0"/>
          </a:p>
        </p:txBody>
      </p:sp>
      <p:sp>
        <p:nvSpPr>
          <p:cNvPr id="5" name="Text 2"/>
          <p:cNvSpPr/>
          <p:nvPr/>
        </p:nvSpPr>
        <p:spPr>
          <a:xfrm>
            <a:off x="812800" y="2920702"/>
            <a:ext cx="7142226" cy="964505"/>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FBFAF7"/>
                </a:solidFill>
                <a:latin typeface="Arial" pitchFamily="34" charset="0"/>
                <a:ea typeface="Arial" pitchFamily="34" charset="-122"/>
                <a:cs typeface="Arial" pitchFamily="34" charset="-120"/>
              </a:rPr>
              <a:t>@ Innovation District</a:t>
            </a:r>
            <a:endParaRPr lang="en-US" sz="1700" dirty="0"/>
          </a:p>
          <a:p>
            <a:pPr algn="l" indent="0" marL="0">
              <a:lnSpc>
                <a:spcPts val="2465"/>
              </a:lnSpc>
              <a:buNone/>
            </a:pPr>
            <a:r>
              <a:rPr lang="en-US" sz="1700" dirty="0">
                <a:solidFill>
                  <a:srgbClr val="FBFAF7"/>
                </a:solidFill>
                <a:latin typeface="Arial" pitchFamily="34" charset="0"/>
                <a:ea typeface="Arial" pitchFamily="34" charset="-122"/>
                <a:cs typeface="Arial" pitchFamily="34" charset="-120"/>
              </a:rPr>
              <a:t>Albuquerque, NM</a:t>
            </a:r>
            <a:endParaRPr lang="en-US" sz="1700" dirty="0"/>
          </a:p>
          <a:p>
            <a:pPr algn="l" indent="0" marL="0">
              <a:lnSpc>
                <a:spcPts val="2465"/>
              </a:lnSpc>
              <a:buNone/>
            </a:pPr>
            <a:r>
              <a:rPr lang="en-US" sz="1700" dirty="0">
                <a:solidFill>
                  <a:srgbClr val="FBFAF7"/>
                </a:solidFill>
                <a:latin typeface="Arial" pitchFamily="34" charset="0"/>
                <a:ea typeface="Arial" pitchFamily="34" charset="-122"/>
                <a:cs typeface="Arial" pitchFamily="34" charset="-120"/>
              </a:rPr>
              <a:t>October 29 to 30, 2026</a:t>
            </a:r>
            <a:endParaRPr lang="en-US" sz="1700" dirty="0"/>
          </a:p>
        </p:txBody>
      </p:sp>
      <p:sp>
        <p:nvSpPr>
          <p:cNvPr id="6" name="Text 3"/>
          <p:cNvSpPr/>
          <p:nvPr/>
        </p:nvSpPr>
        <p:spPr>
          <a:xfrm>
            <a:off x="812800" y="4037608"/>
            <a:ext cx="7442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A9C0"/>
                </a:solidFill>
                <a:latin typeface="Arial" pitchFamily="34" charset="0"/>
                <a:ea typeface="Arial" pitchFamily="34" charset="-122"/>
                <a:cs typeface="Arial" pitchFamily="34" charset="-120"/>
              </a:rPr>
              <a:t>Free and open to the public. 100+ speakers across five tracks and three venues.</a:t>
            </a:r>
            <a:endParaRPr lang="en-US" sz="1500" dirty="0"/>
          </a:p>
        </p:txBody>
      </p:sp>
      <p:sp>
        <p:nvSpPr>
          <p:cNvPr id="7" name="Shape 4"/>
          <p:cNvSpPr/>
          <p:nvPr/>
        </p:nvSpPr>
        <p:spPr>
          <a:xfrm>
            <a:off x="812800" y="4482108"/>
            <a:ext cx="6934200" cy="1084461"/>
          </a:xfrm>
          <a:prstGeom prst="roundRect">
            <a:avLst>
              <a:gd name="adj" fmla="val 9369"/>
            </a:avLst>
          </a:prstGeom>
          <a:solidFill>
            <a:srgbClr val="F5C4A8"/>
          </a:solidFill>
          <a:ln/>
        </p:spPr>
      </p:sp>
      <p:sp>
        <p:nvSpPr>
          <p:cNvPr id="8" name="Text 5"/>
          <p:cNvSpPr/>
          <p:nvPr/>
        </p:nvSpPr>
        <p:spPr>
          <a:xfrm>
            <a:off x="1016000" y="4659908"/>
            <a:ext cx="67236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E0E1F"/>
                </a:solidFill>
                <a:latin typeface="Arial" pitchFamily="34" charset="0"/>
                <a:ea typeface="Arial" pitchFamily="34" charset="-122"/>
                <a:cs typeface="Arial" pitchFamily="34" charset="-120"/>
              </a:rPr>
              <a:t>Thursday 10/29, Main Library · Tech Access track</a:t>
            </a:r>
            <a:endParaRPr lang="en-US" sz="1500" dirty="0"/>
          </a:p>
        </p:txBody>
      </p:sp>
      <p:sp>
        <p:nvSpPr>
          <p:cNvPr id="9" name="Text 6"/>
          <p:cNvSpPr/>
          <p:nvPr/>
        </p:nvSpPr>
        <p:spPr>
          <a:xfrm>
            <a:off x="1016000" y="4926608"/>
            <a:ext cx="67236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2A1E"/>
                </a:solidFill>
                <a:latin typeface="Arial" pitchFamily="34" charset="0"/>
                <a:ea typeface="Arial" pitchFamily="34" charset="-122"/>
                <a:cs typeface="Arial" pitchFamily="34" charset="-120"/>
              </a:rPr>
              <a:t>Career panels all day, plus free résumé reviews from 3:45pm with people who actually hire. Built for you.</a:t>
            </a:r>
            <a:endParaRPr lang="en-US" sz="1300" dirty="0"/>
          </a:p>
        </p:txBody>
      </p:sp>
      <p:sp>
        <p:nvSpPr>
          <p:cNvPr id="10" name="Shape 7"/>
          <p:cNvSpPr/>
          <p:nvPr/>
        </p:nvSpPr>
        <p:spPr>
          <a:xfrm>
            <a:off x="8280400" y="1698625"/>
            <a:ext cx="3073400" cy="3073400"/>
          </a:xfrm>
          <a:prstGeom prst="roundRect">
            <a:avLst>
              <a:gd name="adj" fmla="val 50000"/>
            </a:avLst>
          </a:prstGeom>
          <a:solidFill>
            <a:srgbClr val="FBFAF7"/>
          </a:solidFill>
          <a:ln w="50800">
            <a:solidFill>
              <a:srgbClr val="F5C4A8"/>
            </a:solidFill>
            <a:prstDash val="solid"/>
          </a:ln>
        </p:spPr>
      </p:sp>
      <p:sp>
        <p:nvSpPr>
          <p:cNvPr id="11" name="Text 8"/>
          <p:cNvSpPr/>
          <p:nvPr/>
        </p:nvSpPr>
        <p:spPr>
          <a:xfrm>
            <a:off x="9010333" y="4924425"/>
            <a:ext cx="1613535" cy="2921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8FC9D4"/>
                </a:solidFill>
                <a:latin typeface="Arial" pitchFamily="34" charset="0"/>
                <a:ea typeface="Arial" pitchFamily="34" charset="-122"/>
                <a:cs typeface="Arial" pitchFamily="34" charset="-120"/>
              </a:rPr>
              <a:t>nmtechfest.com</a:t>
            </a:r>
            <a:endParaRPr lang="en-US" sz="1500" dirty="0"/>
          </a:p>
        </p:txBody>
      </p:sp>
      <p:pic>
        <p:nvPicPr>
          <p:cNvPr id="12" name="Image 1" descr="QR code for nmtechfest.com">    </p:cNvPr>
          <p:cNvPicPr>
            <a:picLocks noChangeAspect="1"/>
          </p:cNvPicPr>
          <p:nvPr/>
        </p:nvPicPr>
        <p:blipFill>
          <a:blip r:embed="rId2"/>
          <a:srcRect l="0" r="0" t="-913" b="-913"/>
          <a:stretch/>
        </p:blipFill>
        <p:spPr>
          <a:xfrm>
            <a:off x="8861822" y="2266752"/>
            <a:ext cx="1929011" cy="196423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7"/>
        </a:solidFill>
      </p:bgPr>
    </p:bg>
    <p:spTree>
      <p:nvGrpSpPr>
        <p:cNvPr id="1" name=""/>
        <p:cNvGrpSpPr/>
        <p:nvPr/>
      </p:nvGrpSpPr>
      <p:grpSpPr>
        <a:xfrm>
          <a:off x="0" y="0"/>
          <a:ext cx="0" cy="0"/>
          <a:chOff x="0" y="0"/>
          <a:chExt cx="0" cy="0"/>
        </a:xfrm>
      </p:grpSpPr>
      <p:sp>
        <p:nvSpPr>
          <p:cNvPr id="2" name="Text 0"/>
          <p:cNvSpPr/>
          <p:nvPr>
            <p:ph type="title"/>
          </p:nvPr>
        </p:nvSpPr>
        <p:spPr>
          <a:xfrm>
            <a:off x="812800" y="1510903"/>
            <a:ext cx="10883392" cy="738584"/>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0E0E1F"/>
                </a:solidFill>
                <a:latin typeface="Arial" pitchFamily="34" charset="0"/>
                <a:ea typeface="Arial" pitchFamily="34" charset="-122"/>
                <a:cs typeface="Arial" pitchFamily="34" charset="-120"/>
              </a:rPr>
              <a:t>Questions, and then find me</a:t>
            </a:r>
            <a:endParaRPr lang="en-US" sz="5200" dirty="0"/>
          </a:p>
        </p:txBody>
      </p:sp>
      <p:sp>
        <p:nvSpPr>
          <p:cNvPr id="3" name="Shape 1"/>
          <p:cNvSpPr/>
          <p:nvPr/>
        </p:nvSpPr>
        <p:spPr>
          <a:xfrm>
            <a:off x="812800" y="2528888"/>
            <a:ext cx="5175250" cy="1827510"/>
          </a:xfrm>
          <a:prstGeom prst="roundRect">
            <a:avLst>
              <a:gd name="adj" fmla="val 6949"/>
            </a:avLst>
          </a:prstGeom>
          <a:solidFill>
            <a:srgbClr val="0E0E1F"/>
          </a:solidFill>
          <a:ln/>
        </p:spPr>
      </p:sp>
      <p:sp>
        <p:nvSpPr>
          <p:cNvPr id="4" name="Text 2"/>
          <p:cNvSpPr/>
          <p:nvPr/>
        </p:nvSpPr>
        <p:spPr>
          <a:xfrm>
            <a:off x="1117600" y="2833688"/>
            <a:ext cx="470262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C4A8"/>
                </a:solidFill>
                <a:latin typeface="Arial" pitchFamily="34" charset="0"/>
                <a:ea typeface="Arial" pitchFamily="34" charset="-122"/>
                <a:cs typeface="Arial" pitchFamily="34" charset="-120"/>
              </a:rPr>
              <a:t>Reach me</a:t>
            </a:r>
            <a:endParaRPr lang="en-US" sz="1700" dirty="0"/>
          </a:p>
        </p:txBody>
      </p:sp>
      <p:sp>
        <p:nvSpPr>
          <p:cNvPr id="5" name="Text 3"/>
          <p:cNvSpPr/>
          <p:nvPr/>
        </p:nvSpPr>
        <p:spPr>
          <a:xfrm>
            <a:off x="1117600" y="3194348"/>
            <a:ext cx="4702620"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BFAF7"/>
                </a:solidFill>
                <a:latin typeface="Arial" pitchFamily="34" charset="0"/>
                <a:ea typeface="Arial" pitchFamily="34" charset="-122"/>
                <a:cs typeface="Arial" pitchFamily="34" charset="-120"/>
              </a:rPr>
              <a:t>therudyparra.com</a:t>
            </a:r>
            <a:endParaRPr lang="en-US" sz="1500" dirty="0"/>
          </a:p>
          <a:p>
            <a:pPr algn="l" indent="0" marL="0">
              <a:lnSpc>
                <a:spcPts val="2250"/>
              </a:lnSpc>
              <a:buNone/>
            </a:pPr>
            <a:r>
              <a:rPr lang="en-US" sz="1500" dirty="0">
                <a:solidFill>
                  <a:srgbClr val="FBFAF7"/>
                </a:solidFill>
                <a:latin typeface="Arial" pitchFamily="34" charset="0"/>
                <a:ea typeface="Arial" pitchFamily="34" charset="-122"/>
                <a:cs typeface="Arial" pitchFamily="34" charset="-120"/>
              </a:rPr>
              <a:t>LinkedIn: Rudy Parra</a:t>
            </a:r>
            <a:endParaRPr lang="en-US" sz="1500" dirty="0"/>
          </a:p>
          <a:p>
            <a:pPr algn="l" indent="0" marL="0">
              <a:lnSpc>
                <a:spcPts val="2250"/>
              </a:lnSpc>
              <a:buNone/>
            </a:pPr>
            <a:r>
              <a:rPr lang="en-US" sz="1500" dirty="0">
                <a:solidFill>
                  <a:srgbClr val="FBFAF7"/>
                </a:solidFill>
                <a:latin typeface="Arial" pitchFamily="34" charset="0"/>
                <a:ea typeface="Arial" pitchFamily="34" charset="-122"/>
                <a:cs typeface="Arial" pitchFamily="34" charset="-120"/>
              </a:rPr>
              <a:t>[EMAIL]</a:t>
            </a:r>
            <a:endParaRPr lang="en-US" sz="1500" dirty="0"/>
          </a:p>
        </p:txBody>
      </p:sp>
      <p:sp>
        <p:nvSpPr>
          <p:cNvPr id="6" name="Shape 4"/>
          <p:cNvSpPr/>
          <p:nvPr/>
        </p:nvSpPr>
        <p:spPr>
          <a:xfrm>
            <a:off x="6194425" y="2532063"/>
            <a:ext cx="5181600" cy="1821160"/>
          </a:xfrm>
          <a:prstGeom prst="roundRect">
            <a:avLst>
              <a:gd name="adj" fmla="val 6799"/>
            </a:avLst>
          </a:prstGeom>
          <a:solidFill>
            <a:srgbClr val="FFFFFF"/>
          </a:solidFill>
          <a:ln w="6350">
            <a:solidFill>
              <a:srgbClr val="E3E0D8"/>
            </a:solidFill>
            <a:prstDash val="solid"/>
          </a:ln>
        </p:spPr>
      </p:sp>
      <p:sp>
        <p:nvSpPr>
          <p:cNvPr id="7" name="Text 5"/>
          <p:cNvSpPr/>
          <p:nvPr/>
        </p:nvSpPr>
        <p:spPr>
          <a:xfrm>
            <a:off x="6502400" y="2840038"/>
            <a:ext cx="470262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E0E1F"/>
                </a:solidFill>
                <a:latin typeface="Arial" pitchFamily="34" charset="0"/>
                <a:ea typeface="Arial" pitchFamily="34" charset="-122"/>
                <a:cs typeface="Arial" pitchFamily="34" charset="-120"/>
              </a:rPr>
              <a:t>Do this week</a:t>
            </a:r>
            <a:endParaRPr lang="en-US" sz="1700" dirty="0"/>
          </a:p>
        </p:txBody>
      </p:sp>
      <p:sp>
        <p:nvSpPr>
          <p:cNvPr id="8" name="Text 6"/>
          <p:cNvSpPr/>
          <p:nvPr/>
        </p:nvSpPr>
        <p:spPr>
          <a:xfrm>
            <a:off x="6502400" y="3200698"/>
            <a:ext cx="470262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Arial" pitchFamily="34" charset="0"/>
                <a:ea typeface="Arial" pitchFamily="34" charset="-122"/>
                <a:cs typeface="Arial" pitchFamily="34" charset="-120"/>
              </a:rPr>
              <a:t>Register for TechFest. Come Thursday. Bring a printed résumé and say hi to me.</a:t>
            </a:r>
            <a:endParaRPr lang="en-US" sz="1500" dirty="0"/>
          </a:p>
        </p:txBody>
      </p:sp>
      <p:sp>
        <p:nvSpPr>
          <p:cNvPr id="9" name="Text 7"/>
          <p:cNvSpPr/>
          <p:nvPr/>
        </p:nvSpPr>
        <p:spPr>
          <a:xfrm>
            <a:off x="812800" y="4661198"/>
            <a:ext cx="9810750" cy="711200"/>
          </a:xfrm>
          <a:prstGeom prst="rect">
            <a:avLst/>
          </a:prstGeom>
          <a:noFill/>
          <a:ln/>
        </p:spPr>
        <p:txBody>
          <a:bodyPr wrap="square" lIns="0" tIns="0" rIns="0" bIns="0" rtlCol="0" anchor="t">
            <a:normAutofit/>
          </a:bodyPr>
          <a:lstStyle/>
          <a:p>
            <a:pPr algn="l" indent="0" marL="0">
              <a:lnSpc>
                <a:spcPts val="2700"/>
              </a:lnSpc>
              <a:buNone/>
            </a:pPr>
            <a:r>
              <a:rPr lang="en-US" sz="1800" dirty="0">
                <a:solidFill>
                  <a:srgbClr val="0E0E1F"/>
                </a:solidFill>
                <a:latin typeface="Arial" pitchFamily="34" charset="0"/>
                <a:ea typeface="Arial" pitchFamily="34" charset="-122"/>
                <a:cs typeface="Arial" pitchFamily="34" charset="-120"/>
              </a:rPr>
              <a:t>I mean the "find me" part. Connect with me today while you still remember, not in six months when you need something.</a:t>
            </a:r>
            <a:endParaRPr lang="en-US" sz="1800" dirty="0"/>
          </a:p>
        </p:txBody>
      </p:sp>
    </p:spTree>
  </p:cSld>
  <p:clrMapOvr>
    <a:masterClrMapping/>
  </p:clrMapOvr>
</p:sld>
</file>

<file path=ppt/theme/theme1.xml><?xml version="1.0" encoding="utf-8"?>
<a:theme xmlns:a="http://schemas.openxmlformats.org/drawingml/2006/main" name="Rudy Parra — IoT Bootcamp Talk">
  <a:themeElements>
    <a:clrScheme name="Rudy Parra — IoT Bootcamp Talk">
      <a:dk1>
        <a:srgbClr val="0E0E1F"/>
      </a:dk1>
      <a:lt1>
        <a:srgbClr val="FBFAF7"/>
      </a:lt1>
      <a:dk2>
        <a:srgbClr val="494955"/>
      </a:dk2>
      <a:lt2>
        <a:srgbClr val="E3E2E1"/>
      </a:lt2>
      <a:accent1>
        <a:srgbClr val="F5C4A8"/>
      </a:accent1>
      <a:accent2>
        <a:srgbClr val="C87A4A"/>
      </a:accent2>
      <a:accent3>
        <a:srgbClr val="8FC9D4"/>
      </a:accent3>
      <a:accent4>
        <a:srgbClr val="4A5568"/>
      </a:accent4>
      <a:accent5>
        <a:srgbClr val="A9A9C0"/>
      </a:accent5>
      <a:accent6>
        <a:srgbClr val="3A2A1E"/>
      </a:accent6>
      <a:hlink>
        <a:srgbClr val="0563C1"/>
      </a:hlink>
      <a:folHlink>
        <a:srgbClr val="954F72"/>
      </a:folHlink>
    </a:clrScheme>
    <a:fontScheme name="Rudy Parra — IoT Bootcamp Tal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Rudy Parra — IoT Bootcamp Talk</dc:title>
  <dc:subject/>
  <dc:creator/>
  <cp:lastModifiedBy/>
  <cp:revision>1</cp:revision>
  <dcterms:created xsi:type="dcterms:W3CDTF">2026-10-23T15:45:39Z</dcterms:created>
  <dcterms:modified xsi:type="dcterms:W3CDTF">2026-10-23T15:45:39Z</dcterms:modified>
</cp:coreProperties>
</file>